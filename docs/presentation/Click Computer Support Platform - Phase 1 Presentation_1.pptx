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81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AND DESIGN · ITC327W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Computer and Accessories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Support Platform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Presentation  ·  Group T  ·  September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10515600" cy="2514600"/>
          </a:xfrm>
          <a:prstGeom prst="roundRect">
            <a:avLst>
              <a:gd name="adj" fmla="val 2909"/>
            </a:avLst>
          </a:prstGeom>
          <a:solidFill>
            <a:srgbClr val="1E2761">
              <a:alpha val="70000"/>
            </a:srgbClr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 txBox="1"/>
          <p:nvPr/>
        </p:nvSpPr>
        <p:spPr>
          <a:xfrm>
            <a:off x="109728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 — TEAM MEMBERS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279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Lesako M 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(221007662)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672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Tladi K 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(221010874)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Analyst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50657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Nosenga B 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(223066258)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Presentation Lead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54589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Mafunisa T 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(222033930)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5852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Hlalele D 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(221003431)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4279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Ndlovu N 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(223038645)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4672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Taibosch K 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(222001440)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50657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Molefe B 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(223019042)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54589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Lesenyeho LJ 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(223002326)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5852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Winkel K 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(221011353)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Lead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658368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658368" y="253288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 txBox="1"/>
          <p:nvPr/>
        </p:nvSpPr>
        <p:spPr>
          <a:xfrm>
            <a:off x="658368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4144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658368" y="328269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658368" y="3264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19125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Process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58368" y="40325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 txBox="1"/>
          <p:nvPr/>
        </p:nvSpPr>
        <p:spPr>
          <a:xfrm>
            <a:off x="658368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94106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— Functional &amp; Non-Functional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69087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658368" y="478231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 txBox="1"/>
          <p:nvPr/>
        </p:nvSpPr>
        <p:spPr>
          <a:xfrm>
            <a:off x="658368" y="4764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690872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Architecture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658368" y="55321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 txBox="1"/>
          <p:nvPr/>
        </p:nvSpPr>
        <p:spPr>
          <a:xfrm>
            <a:off x="658368" y="5513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44068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55080" y="169164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6464808" y="17830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 txBox="1"/>
          <p:nvPr/>
        </p:nvSpPr>
        <p:spPr>
          <a:xfrm>
            <a:off x="6464808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169164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355080" y="244144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6464808" y="253288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 txBox="1"/>
          <p:nvPr/>
        </p:nvSpPr>
        <p:spPr>
          <a:xfrm>
            <a:off x="6464808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244144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 (MS Project)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355080" y="319125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Shape 35"/>
          <p:cNvSpPr/>
          <p:nvPr/>
        </p:nvSpPr>
        <p:spPr>
          <a:xfrm>
            <a:off x="6464808" y="328269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 txBox="1"/>
          <p:nvPr/>
        </p:nvSpPr>
        <p:spPr>
          <a:xfrm>
            <a:off x="6464808" y="3264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040880" y="319125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&amp; Scope Changes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355080" y="39410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6464808" y="40325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 txBox="1"/>
          <p:nvPr/>
        </p:nvSpPr>
        <p:spPr>
          <a:xfrm>
            <a:off x="6464808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040880" y="394106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6355080" y="469087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5" name="Shape 43"/>
          <p:cNvSpPr/>
          <p:nvPr/>
        </p:nvSpPr>
        <p:spPr>
          <a:xfrm>
            <a:off x="6464808" y="478231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 txBox="1"/>
          <p:nvPr/>
        </p:nvSpPr>
        <p:spPr>
          <a:xfrm>
            <a:off x="6464808" y="4764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040880" y="4690872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Q&amp;A</a:t>
            </a:r>
            <a:endParaRPr lang="en-US" sz="1450" dirty="0"/>
          </a:p>
        </p:txBody>
      </p:sp>
      <p:sp>
        <p:nvSpPr>
          <p:cNvPr id="48" name="Text 46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82296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756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contact the business directly by phone or in person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system for tracking support requests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assignment of technicians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for clients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466344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0756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Problem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74320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 simple, centralised platform for: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support requests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request progress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assignments and communication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 txBox="1"/>
          <p:nvPr/>
        </p:nvSpPr>
        <p:spPr>
          <a:xfrm>
            <a:off x="850392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0756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Consequences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74320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receiving support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being missed or forgotten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of progress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workload for support staff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2928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 txBox="1"/>
          <p:nvPr/>
        </p:nvSpPr>
        <p:spPr>
          <a:xfrm>
            <a:off x="868680" y="5623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centralised platform removes the guesswork — every request tracked, every technician accountable.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INVOLVED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086600" cy="658368"/>
          </a:xfrm>
          <a:prstGeom prst="roundRect">
            <a:avLst>
              <a:gd name="adj" fmla="val 694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Morafo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6916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Computer &amp; Accessories — External Stakeholder / Business Owner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6916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requirements and sign-off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7086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 txBox="1"/>
          <p:nvPr/>
        </p:nvSpPr>
        <p:spPr>
          <a:xfrm>
            <a:off x="731520" y="24414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44144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44144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and track support requests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7086600" cy="530352"/>
          </a:xfrm>
          <a:prstGeom prst="roundRect">
            <a:avLst>
              <a:gd name="adj" fmla="val 862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 txBox="1"/>
          <p:nvPr/>
        </p:nvSpPr>
        <p:spPr>
          <a:xfrm>
            <a:off x="731520" y="30632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Operators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06324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Staff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06324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manage incoming requests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85032"/>
            <a:ext cx="7086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731520" y="36850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368503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Staff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68503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assigned technical problems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06824"/>
            <a:ext cx="7086600" cy="530352"/>
          </a:xfrm>
          <a:prstGeom prst="roundRect">
            <a:avLst>
              <a:gd name="adj" fmla="val 862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 txBox="1"/>
          <p:nvPr/>
        </p:nvSpPr>
        <p:spPr>
          <a:xfrm>
            <a:off x="731520" y="430682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697480" y="430682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Staff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430682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and service operations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09560" y="169164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 txBox="1"/>
          <p:nvPr/>
        </p:nvSpPr>
        <p:spPr>
          <a:xfrm>
            <a:off x="81838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 NEEDS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237744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client application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submission and tracking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active management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assignment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controls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603504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 txBox="1"/>
          <p:nvPr/>
        </p:nvSpPr>
        <p:spPr>
          <a:xfrm>
            <a:off x="777240" y="6035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stakeholder groups, one shared goal: a faster, more visible support process.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96596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04872" y="196596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2404872" y="19659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Staff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005072" y="196596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61104" y="196596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4261104" y="19659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Notes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861304" y="196596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17336" y="196596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6117336" y="19659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Technician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17536" y="196596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973568" y="196596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7973568" y="19659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573768" y="196596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829800" y="196596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 txBox="1"/>
          <p:nvPr/>
        </p:nvSpPr>
        <p:spPr>
          <a:xfrm>
            <a:off x="9829800" y="19659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system exists at any stage of this process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PROBLEMS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274320" cy="274320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 txBox="1"/>
          <p:nvPr/>
        </p:nvSpPr>
        <p:spPr>
          <a:xfrm>
            <a:off x="54864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37856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receiving support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498848"/>
            <a:ext cx="274320" cy="274320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 txBox="1"/>
          <p:nvPr/>
        </p:nvSpPr>
        <p:spPr>
          <a:xfrm>
            <a:off x="54864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" y="44439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assigning to appropriate technicians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157216"/>
            <a:ext cx="274320" cy="274320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 txBox="1"/>
          <p:nvPr/>
        </p:nvSpPr>
        <p:spPr>
          <a:xfrm>
            <a:off x="548640" y="5138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" y="51023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communication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06240" y="3840480"/>
            <a:ext cx="274320" cy="274320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 txBox="1"/>
          <p:nvPr/>
        </p:nvSpPr>
        <p:spPr>
          <a:xfrm>
            <a:off x="420624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90288" y="37856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communicating technical problems clearly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206240" y="4498848"/>
            <a:ext cx="274320" cy="274320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 txBox="1"/>
          <p:nvPr/>
        </p:nvSpPr>
        <p:spPr>
          <a:xfrm>
            <a:off x="420624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90288" y="44439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of request progress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863840" y="3840480"/>
            <a:ext cx="274320" cy="274320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 txBox="1"/>
          <p:nvPr/>
        </p:nvSpPr>
        <p:spPr>
          <a:xfrm>
            <a:off x="786384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247888" y="37856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being missed or forgotten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863840" y="4498848"/>
            <a:ext cx="274320" cy="274320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 txBox="1"/>
          <p:nvPr/>
        </p:nvSpPr>
        <p:spPr>
          <a:xfrm>
            <a:off x="786384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247888" y="44439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workload for support staff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778240" cy="365760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registration and login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43800" y="1691640"/>
            <a:ext cx="1600200" cy="274320"/>
          </a:xfrm>
          <a:prstGeom prst="roundRect">
            <a:avLst>
              <a:gd name="adj" fmla="val 166667"/>
            </a:avLst>
          </a:prstGeom>
          <a:solidFill>
            <a:srgbClr val="E4F3EA"/>
          </a:solidFill>
          <a:ln w="9525">
            <a:solidFill>
              <a:srgbClr val="1E7B4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7543800" y="1691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7782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 txBox="1"/>
          <p:nvPr/>
        </p:nvSpPr>
        <p:spPr>
          <a:xfrm>
            <a:off x="685800" y="2011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011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menu (Cellphone, Laptop, Printer, TV, Other)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43800" y="2057400"/>
            <a:ext cx="1600200" cy="274320"/>
          </a:xfrm>
          <a:prstGeom prst="roundRect">
            <a:avLst>
              <a:gd name="adj" fmla="val 166667"/>
            </a:avLst>
          </a:prstGeom>
          <a:solidFill>
            <a:srgbClr val="E4F3EA"/>
          </a:solidFill>
          <a:ln w="9525">
            <a:solidFill>
              <a:srgbClr val="1E7B4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 txBox="1"/>
          <p:nvPr/>
        </p:nvSpPr>
        <p:spPr>
          <a:xfrm>
            <a:off x="7543800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8778240" cy="365760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 txBox="1"/>
          <p:nvPr/>
        </p:nvSpPr>
        <p:spPr>
          <a:xfrm>
            <a:off x="68580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377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service selection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43800" y="2423160"/>
            <a:ext cx="1600200" cy="274320"/>
          </a:xfrm>
          <a:prstGeom prst="roundRect">
            <a:avLst>
              <a:gd name="adj" fmla="val 166667"/>
            </a:avLst>
          </a:prstGeom>
          <a:solidFill>
            <a:srgbClr val="E4F3EA"/>
          </a:solidFill>
          <a:ln w="9525">
            <a:solidFill>
              <a:srgbClr val="1E7B4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 txBox="1"/>
          <p:nvPr/>
        </p:nvSpPr>
        <p:spPr>
          <a:xfrm>
            <a:off x="7543800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87782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 txBox="1"/>
          <p:nvPr/>
        </p:nvSpPr>
        <p:spPr>
          <a:xfrm>
            <a:off x="685800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2743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submission with description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43800" y="2788920"/>
            <a:ext cx="1600200" cy="274320"/>
          </a:xfrm>
          <a:prstGeom prst="roundRect">
            <a:avLst>
              <a:gd name="adj" fmla="val 166667"/>
            </a:avLst>
          </a:prstGeom>
          <a:solidFill>
            <a:srgbClr val="E4F3EA"/>
          </a:solidFill>
          <a:ln w="9525">
            <a:solidFill>
              <a:srgbClr val="1E7B4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 txBox="1"/>
          <p:nvPr/>
        </p:nvSpPr>
        <p:spPr>
          <a:xfrm>
            <a:off x="7543800" y="2788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8778240" cy="365760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 txBox="1"/>
          <p:nvPr/>
        </p:nvSpPr>
        <p:spPr>
          <a:xfrm>
            <a:off x="68580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3108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status tracking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543800" y="3154680"/>
            <a:ext cx="1600200" cy="274320"/>
          </a:xfrm>
          <a:prstGeom prst="roundRect">
            <a:avLst>
              <a:gd name="adj" fmla="val 166667"/>
            </a:avLst>
          </a:prstGeom>
          <a:solidFill>
            <a:srgbClr val="E4F3EA"/>
          </a:solidFill>
          <a:ln w="9525">
            <a:solidFill>
              <a:srgbClr val="1E7B4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 txBox="1"/>
          <p:nvPr/>
        </p:nvSpPr>
        <p:spPr>
          <a:xfrm>
            <a:off x="754380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474720"/>
            <a:ext cx="87782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 txBox="1"/>
          <p:nvPr/>
        </p:nvSpPr>
        <p:spPr>
          <a:xfrm>
            <a:off x="68580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3474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staff communication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43800" y="3520440"/>
            <a:ext cx="1600200" cy="274320"/>
          </a:xfrm>
          <a:prstGeom prst="roundRect">
            <a:avLst>
              <a:gd name="adj" fmla="val 166667"/>
            </a:avLst>
          </a:prstGeom>
          <a:solidFill>
            <a:srgbClr val="E4F3EA"/>
          </a:solidFill>
          <a:ln w="9525">
            <a:solidFill>
              <a:srgbClr val="1E7B4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 txBox="1"/>
          <p:nvPr/>
        </p:nvSpPr>
        <p:spPr>
          <a:xfrm>
            <a:off x="7543800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840480"/>
            <a:ext cx="8778240" cy="365760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 txBox="1"/>
          <p:nvPr/>
        </p:nvSpPr>
        <p:spPr>
          <a:xfrm>
            <a:off x="685800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371600" y="3840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assignment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543800" y="3886200"/>
            <a:ext cx="1600200" cy="274320"/>
          </a:xfrm>
          <a:prstGeom prst="roundRect">
            <a:avLst>
              <a:gd name="adj" fmla="val 166667"/>
            </a:avLst>
          </a:prstGeom>
          <a:solidFill>
            <a:srgbClr val="E4F3EA"/>
          </a:solidFill>
          <a:ln w="9525">
            <a:solidFill>
              <a:srgbClr val="1E7B4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 txBox="1"/>
          <p:nvPr/>
        </p:nvSpPr>
        <p:spPr>
          <a:xfrm>
            <a:off x="754380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206240"/>
            <a:ext cx="87782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 txBox="1"/>
          <p:nvPr/>
        </p:nvSpPr>
        <p:spPr>
          <a:xfrm>
            <a:off x="685800" y="4206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1371600" y="4206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controls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543800" y="4251960"/>
            <a:ext cx="1600200" cy="274320"/>
          </a:xfrm>
          <a:prstGeom prst="roundRect">
            <a:avLst>
              <a:gd name="adj" fmla="val 166667"/>
            </a:avLst>
          </a:prstGeom>
          <a:solidFill>
            <a:srgbClr val="E4F3EA"/>
          </a:solidFill>
          <a:ln w="9525">
            <a:solidFill>
              <a:srgbClr val="1E7B4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 txBox="1"/>
          <p:nvPr/>
        </p:nvSpPr>
        <p:spPr>
          <a:xfrm>
            <a:off x="754380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4572000"/>
            <a:ext cx="8778240" cy="365760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 txBox="1"/>
          <p:nvPr/>
        </p:nvSpPr>
        <p:spPr>
          <a:xfrm>
            <a:off x="685800" y="4572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FR9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1371600" y="4572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543800" y="4617720"/>
            <a:ext cx="1600200" cy="274320"/>
          </a:xfrm>
          <a:prstGeom prst="roundRect">
            <a:avLst>
              <a:gd name="adj" fmla="val 166667"/>
            </a:avLst>
          </a:prstGeom>
          <a:solidFill>
            <a:srgbClr val="EEF3FC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 txBox="1"/>
          <p:nvPr/>
        </p:nvSpPr>
        <p:spPr>
          <a:xfrm>
            <a:off x="7543800" y="4617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48640" y="4937760"/>
            <a:ext cx="87782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 txBox="1"/>
          <p:nvPr/>
        </p:nvSpPr>
        <p:spPr>
          <a:xfrm>
            <a:off x="685800" y="4937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FR10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1371600" y="4937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/ device information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543800" y="4983480"/>
            <a:ext cx="1600200" cy="274320"/>
          </a:xfrm>
          <a:prstGeom prst="roundRect">
            <a:avLst>
              <a:gd name="adj" fmla="val 166667"/>
            </a:avLst>
          </a:prstGeom>
          <a:solidFill>
            <a:srgbClr val="EEF3FC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3" name="Text 51"/>
          <p:cNvSpPr txBox="1"/>
          <p:nvPr/>
        </p:nvSpPr>
        <p:spPr>
          <a:xfrm>
            <a:off x="7543800" y="4983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48640" y="5303520"/>
            <a:ext cx="8778240" cy="365760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 txBox="1"/>
          <p:nvPr/>
        </p:nvSpPr>
        <p:spPr>
          <a:xfrm>
            <a:off x="685800" y="5303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FR11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1371600" y="5303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 (screenshots, photos, documents)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543800" y="5349240"/>
            <a:ext cx="1600200" cy="274320"/>
          </a:xfrm>
          <a:prstGeom prst="roundRect">
            <a:avLst>
              <a:gd name="adj" fmla="val 166667"/>
            </a:avLst>
          </a:prstGeom>
          <a:solidFill>
            <a:srgbClr val="EEF3FC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 txBox="1"/>
          <p:nvPr/>
        </p:nvSpPr>
        <p:spPr>
          <a:xfrm>
            <a:off x="7543800" y="5349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646920" y="1645920"/>
            <a:ext cx="1965960" cy="420624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0" name="Text 58"/>
          <p:cNvSpPr txBox="1"/>
          <p:nvPr/>
        </p:nvSpPr>
        <p:spPr>
          <a:xfrm>
            <a:off x="9646920" y="18745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61" name="Text 59"/>
          <p:cNvSpPr txBox="1"/>
          <p:nvPr/>
        </p:nvSpPr>
        <p:spPr>
          <a:xfrm>
            <a:off x="9646920" y="2560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921240" y="3063240"/>
            <a:ext cx="14173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3" name="Text 61"/>
          <p:cNvSpPr txBox="1"/>
          <p:nvPr/>
        </p:nvSpPr>
        <p:spPr>
          <a:xfrm>
            <a:off x="9646920" y="3200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64" name="Text 62"/>
          <p:cNvSpPr txBox="1"/>
          <p:nvPr/>
        </p:nvSpPr>
        <p:spPr>
          <a:xfrm>
            <a:off x="9646920" y="3657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9646920" y="4160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66" name="Text 64"/>
          <p:cNvSpPr txBox="1"/>
          <p:nvPr/>
        </p:nvSpPr>
        <p:spPr>
          <a:xfrm>
            <a:off x="9646920" y="4617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503920" cy="713232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777240" y="1865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77724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105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810512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user information from unauthorised access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85039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777240" y="26883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77724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33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2633472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confirmation, status, and error messages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8503920" cy="713232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777240" y="35112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 txBox="1"/>
          <p:nvPr/>
        </p:nvSpPr>
        <p:spPr>
          <a:xfrm>
            <a:off x="77724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5643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NFR3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456432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and consistent request information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85039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777240" y="43342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 txBox="1"/>
          <p:nvPr/>
        </p:nvSpPr>
        <p:spPr>
          <a:xfrm>
            <a:off x="77724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2793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NFR4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4279392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navigation with minimal steps for submission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8503920" cy="713232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777240" y="51572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 txBox="1"/>
          <p:nvPr/>
        </p:nvSpPr>
        <p:spPr>
          <a:xfrm>
            <a:off x="77724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10235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NFR5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2331720" y="5102352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 within 2 seconds under normal load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281160" y="1737360"/>
            <a:ext cx="2331720" cy="4160520"/>
          </a:xfrm>
          <a:prstGeom prst="roundRect">
            <a:avLst>
              <a:gd name="adj" fmla="val 3137"/>
            </a:avLst>
          </a:prstGeom>
          <a:solidFill>
            <a:srgbClr val="E4F3EA"/>
          </a:solidFill>
          <a:ln w="12700">
            <a:solidFill>
              <a:srgbClr val="1E7B4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 txBox="1"/>
          <p:nvPr/>
        </p:nvSpPr>
        <p:spPr>
          <a:xfrm>
            <a:off x="9281160" y="2286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7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31" name="Text 29"/>
          <p:cNvSpPr txBox="1"/>
          <p:nvPr/>
        </p:nvSpPr>
        <p:spPr>
          <a:xfrm>
            <a:off x="9464040" y="3108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Must Have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&amp;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120640" cy="420624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01168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(Dart)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51206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 txBox="1"/>
          <p:nvPr/>
        </p:nvSpPr>
        <p:spPr>
          <a:xfrm>
            <a:off x="685800" y="24323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4323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6.0 (C#)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5120640" cy="420624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 txBox="1"/>
          <p:nvPr/>
        </p:nvSpPr>
        <p:spPr>
          <a:xfrm>
            <a:off x="685800" y="28529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8529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73552"/>
            <a:ext cx="51206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 txBox="1"/>
          <p:nvPr/>
        </p:nvSpPr>
        <p:spPr>
          <a:xfrm>
            <a:off x="685800" y="32735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27355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5120640" cy="420624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 txBox="1"/>
          <p:nvPr/>
        </p:nvSpPr>
        <p:spPr>
          <a:xfrm>
            <a:off x="685800" y="36941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369417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05156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 txBox="1"/>
          <p:nvPr/>
        </p:nvSpPr>
        <p:spPr>
          <a:xfrm>
            <a:off x="548640" y="480060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800600"/>
            <a:ext cx="137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737360" y="4800600"/>
            <a:ext cx="105156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 txBox="1"/>
          <p:nvPr/>
        </p:nvSpPr>
        <p:spPr>
          <a:xfrm>
            <a:off x="1737360" y="480060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788920" y="4800600"/>
            <a:ext cx="137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26080" y="4800600"/>
            <a:ext cx="105156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 txBox="1"/>
          <p:nvPr/>
        </p:nvSpPr>
        <p:spPr>
          <a:xfrm>
            <a:off x="2926080" y="480060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API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977640" y="4800600"/>
            <a:ext cx="137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0" y="4800600"/>
            <a:ext cx="1051560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 txBox="1"/>
          <p:nvPr/>
        </p:nvSpPr>
        <p:spPr>
          <a:xfrm>
            <a:off x="4114800" y="480060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114800" y="5394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687568"/>
            <a:ext cx="4572000" cy="548640"/>
          </a:xfrm>
          <a:prstGeom prst="roundRect">
            <a:avLst>
              <a:gd name="adj" fmla="val 833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 txBox="1"/>
          <p:nvPr/>
        </p:nvSpPr>
        <p:spPr>
          <a:xfrm>
            <a:off x="548640" y="5687568"/>
            <a:ext cx="45720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Operator / Technician / Administrator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16459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 txBox="1"/>
          <p:nvPr/>
        </p:nvSpPr>
        <p:spPr>
          <a:xfrm>
            <a:off x="630936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USER JOURNEY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9360" y="23317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 txBox="1"/>
          <p:nvPr/>
        </p:nvSpPr>
        <p:spPr>
          <a:xfrm>
            <a:off x="630936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231343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501384" y="2715768"/>
            <a:ext cx="0" cy="36576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6309360" y="308152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 txBox="1"/>
          <p:nvPr/>
        </p:nvSpPr>
        <p:spPr>
          <a:xfrm>
            <a:off x="63093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0" y="306324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Device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6501384" y="3465576"/>
            <a:ext cx="0" cy="36576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Shape 43"/>
          <p:cNvSpPr/>
          <p:nvPr/>
        </p:nvSpPr>
        <p:spPr>
          <a:xfrm>
            <a:off x="6309360" y="383133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 txBox="1"/>
          <p:nvPr/>
        </p:nvSpPr>
        <p:spPr>
          <a:xfrm>
            <a:off x="630936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0" y="381304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Problem / Repair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6501384" y="4215384"/>
            <a:ext cx="0" cy="36576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Shape 47"/>
          <p:cNvSpPr/>
          <p:nvPr/>
        </p:nvSpPr>
        <p:spPr>
          <a:xfrm>
            <a:off x="6309360" y="458114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 txBox="1"/>
          <p:nvPr/>
        </p:nvSpPr>
        <p:spPr>
          <a:xfrm>
            <a:off x="6309360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0" y="456285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6501384" y="4965192"/>
            <a:ext cx="0" cy="36576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3" name="Shape 51"/>
          <p:cNvSpPr/>
          <p:nvPr/>
        </p:nvSpPr>
        <p:spPr>
          <a:xfrm>
            <a:off x="6309360" y="53309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 txBox="1"/>
          <p:nvPr/>
        </p:nvSpPr>
        <p:spPr>
          <a:xfrm>
            <a:off x="6309360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858000" y="531266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Help / Track Status</a:t>
            </a:r>
            <a:endParaRPr lang="en-US" sz="1350" dirty="0"/>
          </a:p>
        </p:txBody>
      </p:sp>
      <p:sp>
        <p:nvSpPr>
          <p:cNvPr id="56" name="Text 54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VIABLE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Study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1E7B4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94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technologies, well-supported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526280" y="1920240"/>
            <a:ext cx="411480" cy="411480"/>
          </a:xfrm>
          <a:prstGeom prst="ellipse">
            <a:avLst/>
          </a:prstGeom>
          <a:solidFill>
            <a:srgbClr val="1E7B4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 txBox="1"/>
          <p:nvPr/>
        </p:nvSpPr>
        <p:spPr>
          <a:xfrm>
            <a:off x="452628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194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operational benefits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8275320" y="1920240"/>
            <a:ext cx="411480" cy="411480"/>
          </a:xfrm>
          <a:prstGeom prst="ellipse">
            <a:avLst/>
          </a:prstGeom>
          <a:solidFill>
            <a:srgbClr val="1E7B4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 txBox="1"/>
          <p:nvPr/>
        </p:nvSpPr>
        <p:spPr>
          <a:xfrm>
            <a:off x="827532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2194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 (R0 budget)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411480" cy="411480"/>
          </a:xfrm>
          <a:prstGeom prst="ellipse">
            <a:avLst/>
          </a:prstGeom>
          <a:solidFill>
            <a:srgbClr val="1E7B4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 txBox="1"/>
          <p:nvPr/>
        </p:nvSpPr>
        <p:spPr>
          <a:xfrm>
            <a:off x="77724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794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timeline via MS Project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97680" y="32918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4526280" y="3520440"/>
            <a:ext cx="411480" cy="411480"/>
          </a:xfrm>
          <a:prstGeom prst="ellipse">
            <a:avLst/>
          </a:prstGeom>
          <a:solidFill>
            <a:srgbClr val="1E7B4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 txBox="1"/>
          <p:nvPr/>
        </p:nvSpPr>
        <p:spPr>
          <a:xfrm>
            <a:off x="45262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3794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compliance with access controls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32918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8275320" y="3520440"/>
            <a:ext cx="411480" cy="411480"/>
          </a:xfrm>
          <a:prstGeom prst="ellipse">
            <a:avLst/>
          </a:prstGeom>
          <a:solidFill>
            <a:srgbClr val="1E7B4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 txBox="1"/>
          <p:nvPr/>
        </p:nvSpPr>
        <p:spPr>
          <a:xfrm>
            <a:off x="827532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82396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823960" y="3794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with clear policies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93776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 txBox="1"/>
          <p:nvPr/>
        </p:nvSpPr>
        <p:spPr>
          <a:xfrm>
            <a:off x="822960" y="50474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DECISION: FEASIBLE WITH CHANGES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535838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core functions prioritised  ·  Should-Have features (notifications, evidence) deferred  ·  24/7 monitoring treated as operational responsibility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PROJECT RISKS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321040" cy="1051560"/>
          </a:xfrm>
          <a:prstGeom prst="roundRect">
            <a:avLst>
              <a:gd name="adj" fmla="val 5217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73152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03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  </a:t>
            </a:r>
            <a:r>
              <a:rPr lang="en-US" sz="12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may struggle to use the interface and submit support requests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Keep the main client journey simple and easy to navigate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1762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3227832"/>
            <a:ext cx="8321040" cy="1051560"/>
          </a:xfrm>
          <a:prstGeom prst="roundRect">
            <a:avLst>
              <a:gd name="adj" fmla="val 5217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731520" y="3502152"/>
            <a:ext cx="502920" cy="502920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73152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3192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  </a:t>
            </a:r>
            <a:r>
              <a:rPr lang="en-US" sz="12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development time may leave some requirements incomplete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9410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Prioritise Must-Have requirements before lower-priority features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339242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48640" y="4443984"/>
            <a:ext cx="8321040" cy="1051560"/>
          </a:xfrm>
          <a:prstGeom prst="roundRect">
            <a:avLst>
              <a:gd name="adj" fmla="val 5217"/>
            </a:avLst>
          </a:prstGeom>
          <a:solidFill>
            <a:srgbClr val="FBF1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731520" y="4718304"/>
            <a:ext cx="502920" cy="502920"/>
          </a:xfrm>
          <a:prstGeom prst="ellipse">
            <a:avLst/>
          </a:prstGeom>
          <a:solidFill>
            <a:srgbClr val="C9822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 txBox="1"/>
          <p:nvPr/>
        </p:nvSpPr>
        <p:spPr>
          <a:xfrm>
            <a:off x="731520" y="4700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5354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  </a:t>
            </a:r>
            <a:r>
              <a:rPr lang="en-US" sz="12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requests may be missed or not handled on time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1572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Provide active monitoring and notifications where implemented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460857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144000" y="1645920"/>
            <a:ext cx="2468880" cy="425196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 txBox="1"/>
          <p:nvPr/>
        </p:nvSpPr>
        <p:spPr>
          <a:xfrm>
            <a:off x="9144000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Risks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18320" y="3429000"/>
            <a:ext cx="19202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 txBox="1"/>
          <p:nvPr/>
        </p:nvSpPr>
        <p:spPr>
          <a:xfrm>
            <a:off x="9372600" y="361188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has an owner, mitigation, and contingency plan. Reviewed regularly with the Project Manager.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Schedule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MILESTONES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0" cy="22860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923544" y="201168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923544" y="1993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38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Engagement Complete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938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Aug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23544" y="25146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923544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441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SRS, Feasibility, Risk &amp; Schedule Drafted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441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Aug 2026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3544" y="301752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 txBox="1"/>
          <p:nvPr/>
        </p:nvSpPr>
        <p:spPr>
          <a:xfrm>
            <a:off x="923544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944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Finalised (v2.0)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Sep 2026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3544" y="352044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 txBox="1"/>
          <p:nvPr/>
        </p:nvSpPr>
        <p:spPr>
          <a:xfrm>
            <a:off x="923544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4472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Submitted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447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Sep 2026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3544" y="4023360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 txBox="1"/>
          <p:nvPr/>
        </p:nvSpPr>
        <p:spPr>
          <a:xfrm>
            <a:off x="923544" y="4005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3950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Presented &amp; Approved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950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Sep 2026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617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4 Sep 2026 — Phase 1 submission falls on schedule.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PHASES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49440" y="2011680"/>
            <a:ext cx="4663440" cy="960120"/>
          </a:xfrm>
          <a:prstGeom prst="roundRect">
            <a:avLst>
              <a:gd name="adj" fmla="val 5714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 txBox="1"/>
          <p:nvPr/>
        </p:nvSpPr>
        <p:spPr>
          <a:xfrm>
            <a:off x="7132320" y="20939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Engagement, Requirements &amp; Feasibility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engagement, requirements, feasibility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2651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Aug – 8 Sep 2026  ·  12 days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49440" y="3063240"/>
            <a:ext cx="4663440" cy="96012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 txBox="1"/>
          <p:nvPr/>
        </p:nvSpPr>
        <p:spPr>
          <a:xfrm>
            <a:off x="7132320" y="31455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Architecture, UML, ERD &amp; Interface Design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diagrams, prototype, stakeholder feedback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3703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Sep – 23 Sep 2026  ·  11 days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49440" y="4114800"/>
            <a:ext cx="4663440" cy="96012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 txBox="1"/>
          <p:nvPr/>
        </p:nvSpPr>
        <p:spPr>
          <a:xfrm>
            <a:off x="7132320" y="41970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Development, Integration, Testing &amp; Demo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480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integration, testing, final demonstration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7548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Sep – 13 Nov 2026  ·  30 days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 txBox="1"/>
          <p:nvPr/>
        </p:nvSpPr>
        <p:spPr>
          <a:xfrm>
            <a:off x="82296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is realistic and on track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assigned to specific members  ·  Dependencies defined  ·  Progress tracked in the MS Project plan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THE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 &amp; Scope Changes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309360" cy="566928"/>
          </a:xfrm>
          <a:prstGeom prst="roundRect">
            <a:avLst>
              <a:gd name="adj" fmla="val 8065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 txBox="1"/>
          <p:nvPr/>
        </p:nvSpPr>
        <p:spPr>
          <a:xfrm>
            <a:off x="731520" y="17007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client app → Non-Functional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5681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describes quality, not a business function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6309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731520" y="23225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→ Should Have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7860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priority than core request processing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6309360" cy="566928"/>
          </a:xfrm>
          <a:prstGeom prst="roundRect">
            <a:avLst>
              <a:gd name="adj" fmla="val 8065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731520" y="29443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management → Operational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0040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staffing is business responsibility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6309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731520" y="3566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 → Should Have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82219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but can be deferred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6309360" cy="566928"/>
          </a:xfrm>
          <a:prstGeom prst="roundRect">
            <a:avLst>
              <a:gd name="adj" fmla="val 8065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731520" y="4187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/ device info → Should Have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4439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but lower priority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63093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 txBox="1"/>
          <p:nvPr/>
        </p:nvSpPr>
        <p:spPr>
          <a:xfrm>
            <a:off x="731520" y="4809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examples removed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06577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problem / service selection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86600" y="1645920"/>
            <a:ext cx="4526280" cy="2697480"/>
          </a:xfrm>
          <a:prstGeom prst="roundRect">
            <a:avLst>
              <a:gd name="adj" fmla="val 2712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7296912" y="1810512"/>
            <a:ext cx="329184" cy="329184"/>
          </a:xfrm>
          <a:prstGeom prst="ellipse">
            <a:avLst/>
          </a:prstGeom>
          <a:solidFill>
            <a:srgbClr val="1E7B4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 txBox="1"/>
          <p:nvPr/>
        </p:nvSpPr>
        <p:spPr>
          <a:xfrm>
            <a:off x="7296912" y="1792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1828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2212848"/>
            <a:ext cx="4114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registration and login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selection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service selection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Support-request submission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status tracking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support communication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assignment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controls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/ asset info (where required)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 (where retained)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86600" y="4480560"/>
            <a:ext cx="4526280" cy="1965960"/>
          </a:xfrm>
          <a:prstGeom prst="roundRect">
            <a:avLst>
              <a:gd name="adj" fmla="val 3721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7296912" y="4645152"/>
            <a:ext cx="329184" cy="329184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 txBox="1"/>
          <p:nvPr/>
        </p:nvSpPr>
        <p:spPr>
          <a:xfrm>
            <a:off x="7296912" y="4626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4663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296912" y="5047488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Unapproved device categories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financial / accounting functions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diagnosis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physical repair of devices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access to client devices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outside agreed requirements (without change control)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members contributed across stakeholder engagement, requirements, feasibility, risk, scheduling, and documentation.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121408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1289304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1289304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Lesako 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900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07208" y="1874520"/>
            <a:ext cx="2121408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547872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 txBox="1"/>
          <p:nvPr/>
        </p:nvSpPr>
        <p:spPr>
          <a:xfrm>
            <a:off x="3547872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898648" y="27432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Tladi K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29900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Analyst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65776" y="1874520"/>
            <a:ext cx="2121408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580644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5806440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27432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Nosenga B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157216" y="29900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Presentation Lead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24344" y="1874520"/>
            <a:ext cx="2121408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8065008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 txBox="1"/>
          <p:nvPr/>
        </p:nvSpPr>
        <p:spPr>
          <a:xfrm>
            <a:off x="8065008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15784" y="27432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Mafunisa 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415784" y="29900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82912" y="1874520"/>
            <a:ext cx="2121408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10323576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 txBox="1"/>
          <p:nvPr/>
        </p:nvSpPr>
        <p:spPr>
          <a:xfrm>
            <a:off x="10323576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674352" y="27432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Hlalele 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674352" y="29900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456432"/>
            <a:ext cx="2121408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1289304" y="36393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 txBox="1"/>
          <p:nvPr/>
        </p:nvSpPr>
        <p:spPr>
          <a:xfrm>
            <a:off x="1289304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3251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Ndlovu 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572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07208" y="3456432"/>
            <a:ext cx="2121408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Shape 34"/>
          <p:cNvSpPr/>
          <p:nvPr/>
        </p:nvSpPr>
        <p:spPr>
          <a:xfrm>
            <a:off x="3547872" y="36393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 txBox="1"/>
          <p:nvPr/>
        </p:nvSpPr>
        <p:spPr>
          <a:xfrm>
            <a:off x="3547872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2898648" y="43251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Taibosch K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2898648" y="4572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65776" y="3456432"/>
            <a:ext cx="2121408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5806440" y="36393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 txBox="1"/>
          <p:nvPr/>
        </p:nvSpPr>
        <p:spPr>
          <a:xfrm>
            <a:off x="5806440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5157216" y="43251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Molefe B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157216" y="4572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24344" y="3456432"/>
            <a:ext cx="2121408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6" name="Shape 44"/>
          <p:cNvSpPr/>
          <p:nvPr/>
        </p:nvSpPr>
        <p:spPr>
          <a:xfrm>
            <a:off x="8065008" y="36393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 txBox="1"/>
          <p:nvPr/>
        </p:nvSpPr>
        <p:spPr>
          <a:xfrm>
            <a:off x="8065008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7415784" y="43251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Lesenyeho LJ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7415784" y="4572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582912" y="3456432"/>
            <a:ext cx="2121408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1" name="Shape 49"/>
          <p:cNvSpPr/>
          <p:nvPr/>
        </p:nvSpPr>
        <p:spPr>
          <a:xfrm>
            <a:off x="10323576" y="36393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 txBox="1"/>
          <p:nvPr/>
        </p:nvSpPr>
        <p:spPr>
          <a:xfrm>
            <a:off x="10323576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9674352" y="43251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Winkel K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9674352" y="4572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Lead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WRAP-UP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Q&amp;A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411480" cy="411480"/>
          </a:xfrm>
          <a:prstGeom prst="ellipse">
            <a:avLst/>
          </a:prstGeom>
          <a:solidFill>
            <a:srgbClr val="1E7B4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82296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Completed Successfully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317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identified and engaged (Prince Morafo)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documented and confirmed (11 FRs, 5 NFRs)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 completed (6 areas)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created (10 risks)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 established (MS Project)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active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tracker maintained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members contributed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658368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PHASE 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1945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&amp; ERD Diagrams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Design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Development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6309360" y="3703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160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4617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github.com/tmafunisa24-sudo/ITC327W-Project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Computer and Accessories  ·  Client Support Platform  ·  Group 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1301</Words>
  <Application>Microsoft Office PowerPoint</Application>
  <PresentationFormat>Widescreen</PresentationFormat>
  <Paragraphs>409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Bongani Nosenga</cp:lastModifiedBy>
  <cp:revision>2</cp:revision>
  <dcterms:created xsi:type="dcterms:W3CDTF">2026-09-04T07:40:55Z</dcterms:created>
  <dcterms:modified xsi:type="dcterms:W3CDTF">2026-09-04T16:20:35Z</dcterms:modified>
</cp:coreProperties>
</file>